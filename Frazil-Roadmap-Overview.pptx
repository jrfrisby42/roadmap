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035040"/>
            <a:ext cx="12191695" cy="109728"/>
          </a:xfrm>
          <a:prstGeom prst="rect">
            <a:avLst/>
          </a:prstGeom>
          <a:solidFill>
            <a:srgbClr val="E88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6400" b="1">
                <a:solidFill>
                  <a:srgbClr val="FFFFFF"/>
                </a:solidFill>
                <a:latin typeface="Calibri"/>
              </a:rPr>
              <a:t>Frazil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34640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0">
                <a:solidFill>
                  <a:srgbClr val="CFDDEF"/>
                </a:solidFill>
                <a:latin typeface="Calibri"/>
              </a:rPr>
              <a:t>How the App Works — Executive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12064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9CB6D0"/>
                </a:solidFill>
                <a:latin typeface="Calibri"/>
              </a:rPr>
              <a:t>v3.1.0  ·  roadmap.frazil.app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9CB6D0"/>
                </a:solidFill>
                <a:latin typeface="Calibri"/>
              </a:rPr>
              <a:t>Prepared for the executive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88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The one-paragraph version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CFDDEF"/>
                </a:solidFill>
                <a:latin typeface="Calibri"/>
              </a:rPr>
              <a:t>What this is, in plain English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10698480" cy="4206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45920"/>
            <a:ext cx="109728" cy="4206240"/>
          </a:xfrm>
          <a:prstGeom prst="rect">
            <a:avLst/>
          </a:prstGeom>
          <a:solidFill>
            <a:srgbClr val="1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20240"/>
            <a:ext cx="10241280" cy="3657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0">
                <a:solidFill>
                  <a:srgbClr val="3B424A"/>
                </a:solidFill>
                <a:latin typeface="Calibri"/>
              </a:rPr>
              <a:t>Frazil Roadmap is a custom-built planning tool that lives on a single small server in the cloud. Anyone in the company opens roadmap.frazil.app in a browser, logs in, and sees the team's roadmap as a Gantt chart, Kanban board, or planning workspace.</a:t>
            </a:r>
          </a:p>
          <a:p>
            <a:pPr algn="l"/>
            <a:r>
              <a:rPr sz="2000" b="0">
                <a:solidFill>
                  <a:srgbClr val="3B424A"/>
                </a:solidFill>
                <a:latin typeface="Calibri"/>
              </a:rPr>
              <a:t/>
            </a:r>
          </a:p>
          <a:p>
            <a:pPr algn="l"/>
            <a:r>
              <a:rPr sz="2000" b="0">
                <a:solidFill>
                  <a:srgbClr val="3B424A"/>
                </a:solidFill>
                <a:latin typeface="Calibri"/>
              </a:rPr>
              <a:t>Behind the scenes, two small programs and one database file do all the work.</a:t>
            </a:r>
          </a:p>
          <a:p>
            <a:pPr algn="l"/>
            <a:r>
              <a:rPr sz="2000" b="0">
                <a:solidFill>
                  <a:srgbClr val="3B424A"/>
                </a:solidFill>
                <a:latin typeface="Calibri"/>
              </a:rPr>
              <a:t/>
            </a:r>
          </a:p>
          <a:p>
            <a:pPr algn="l"/>
            <a:r>
              <a:rPr sz="2000" b="0">
                <a:solidFill>
                  <a:srgbClr val="3B424A"/>
                </a:solidFill>
                <a:latin typeface="Calibri"/>
              </a:rPr>
              <a:t>Total hosting cost: about $15 per month.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7A828C"/>
                </a:solidFill>
                <a:latin typeface="Calibri"/>
              </a:rPr>
              <a:t>Frazil Roadmap  |  Internal — Exec Overview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7A828C"/>
                </a:solidFill>
                <a:latin typeface="Calibri"/>
              </a:rPr>
              <a:t>1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88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The big picture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CFDDEF"/>
                </a:solidFill>
                <a:latin typeface="Calibri"/>
              </a:rPr>
              <a:t>Five pieces, each with one job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164592" cy="685800"/>
          </a:xfrm>
          <a:prstGeom prst="rect">
            <a:avLst/>
          </a:prstGeom>
          <a:solidFill>
            <a:srgbClr val="7A82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96112" y="1463040"/>
            <a:ext cx="4864608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508760"/>
            <a:ext cx="3017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F2C4A"/>
                </a:solidFill>
                <a:latin typeface="Calibri"/>
              </a:rPr>
              <a:t>You (browser)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828800"/>
            <a:ext cx="4572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7A828C"/>
                </a:solidFill>
                <a:latin typeface="Calibri"/>
              </a:rPr>
              <a:t>Opens roadmap.frazil.app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258568"/>
            <a:ext cx="164592" cy="685800"/>
          </a:xfrm>
          <a:prstGeom prst="rect">
            <a:avLst/>
          </a:prstGeom>
          <a:solidFill>
            <a:srgbClr val="1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96112" y="2258568"/>
            <a:ext cx="4864608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2304288"/>
            <a:ext cx="3017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F2C4A"/>
                </a:solidFill>
                <a:latin typeface="Calibri"/>
              </a:rPr>
              <a:t>1. Caddy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624328"/>
            <a:ext cx="4572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7A828C"/>
                </a:solidFill>
                <a:latin typeface="Calibri"/>
              </a:rPr>
              <a:t>Front desk — domain + HTTPS padlock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054096"/>
            <a:ext cx="164592" cy="685800"/>
          </a:xfrm>
          <a:prstGeom prst="rect">
            <a:avLst/>
          </a:prstGeom>
          <a:solidFill>
            <a:srgbClr val="1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96112" y="3054096"/>
            <a:ext cx="4864608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099816"/>
            <a:ext cx="3017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F2C4A"/>
                </a:solidFill>
                <a:latin typeface="Calibri"/>
              </a:rPr>
              <a:t>2. Gunicorn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419856"/>
            <a:ext cx="4572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7A828C"/>
                </a:solidFill>
                <a:latin typeface="Calibri"/>
              </a:rPr>
              <a:t>Manager — runs workers, auto-restart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849624"/>
            <a:ext cx="164592" cy="685800"/>
          </a:xfrm>
          <a:prstGeom prst="rect">
            <a:avLst/>
          </a:prstGeom>
          <a:solidFill>
            <a:srgbClr val="0F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6112" y="3849624"/>
            <a:ext cx="4864608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3895344"/>
            <a:ext cx="3017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F2C4A"/>
                </a:solidFill>
                <a:latin typeface="Calibri"/>
              </a:rPr>
              <a:t>3. FastAPI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215384"/>
            <a:ext cx="4572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7A828C"/>
                </a:solidFill>
                <a:latin typeface="Calibri"/>
              </a:rPr>
              <a:t>Brain — all app logic (server.py)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645152"/>
            <a:ext cx="164592" cy="685800"/>
          </a:xfrm>
          <a:prstGeom prst="rect">
            <a:avLst/>
          </a:prstGeom>
          <a:solidFill>
            <a:srgbClr val="0F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6112" y="4645152"/>
            <a:ext cx="4864608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4690872"/>
            <a:ext cx="3017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F2C4A"/>
                </a:solidFill>
                <a:latin typeface="Calibri"/>
              </a:rPr>
              <a:t>4. SQLite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5010912"/>
            <a:ext cx="4572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7A828C"/>
                </a:solidFill>
                <a:latin typeface="Calibri"/>
              </a:rPr>
              <a:t>Filing cabinet — single database file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5440680"/>
            <a:ext cx="164592" cy="685800"/>
          </a:xfrm>
          <a:prstGeom prst="rect">
            <a:avLst/>
          </a:prstGeom>
          <a:solidFill>
            <a:srgbClr val="2AA1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96112" y="5440680"/>
            <a:ext cx="4864608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" y="5486400"/>
            <a:ext cx="3017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F2C4A"/>
                </a:solidFill>
                <a:latin typeface="Calibri"/>
              </a:rPr>
              <a:t>5. Jira (ext.)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5806440"/>
            <a:ext cx="4572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7A828C"/>
                </a:solidFill>
                <a:latin typeface="Calibri"/>
              </a:rPr>
              <a:t>Pulled in on demand for ticket data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1463040"/>
            <a:ext cx="5029200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0" y="1463040"/>
            <a:ext cx="5029200" cy="502920"/>
          </a:xfrm>
          <a:prstGeom prst="rect">
            <a:avLst/>
          </a:prstGeom>
          <a:solidFill>
            <a:srgbClr val="0F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75120" y="157276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All on one $12/month server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2194560"/>
            <a:ext cx="457200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>
                <a:solidFill>
                  <a:srgbClr val="3B424A"/>
                </a:solidFill>
                <a:latin typeface="Calibri"/>
              </a:rPr>
              <a:t>•  One physical machine. Everything except Jira runs there.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3B424A"/>
                </a:solidFill>
                <a:latin typeface="Calibri"/>
              </a:rPr>
              <a:t>•  Sized like a Raspberry Pi (2 CPU, 2 GB RAM).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3B424A"/>
                </a:solidFill>
                <a:latin typeface="Calibri"/>
              </a:rPr>
              <a:t>•  Data lives on a separate disk that survives server swaps.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3B424A"/>
                </a:solidFill>
                <a:latin typeface="Calibri"/>
              </a:rPr>
              <a:t>•  If a piece crashes, it auto-restarts in seconds.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3B424A"/>
                </a:solidFill>
                <a:latin typeface="Calibri"/>
              </a:rPr>
              <a:t>•  If we ever outgrow it, we move to a bigger box — same software.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7A828C"/>
                </a:solidFill>
                <a:latin typeface="Calibri"/>
              </a:rPr>
              <a:t>Frazil Roadmap  |  Internal — Exec Overview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7A828C"/>
                </a:solidFill>
                <a:latin typeface="Calibri"/>
              </a:rPr>
              <a:t>2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88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1. Caddy — the front door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CFDDEF"/>
                </a:solidFill>
                <a:latin typeface="Calibri"/>
              </a:rPr>
              <a:t>Handles the web address and security padlock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6583680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6583680" cy="457200"/>
          </a:xfrm>
          <a:prstGeom prst="rect">
            <a:avLst/>
          </a:prstGeom>
          <a:solidFill>
            <a:srgbClr val="1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36192"/>
            <a:ext cx="6400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What it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057400"/>
            <a:ext cx="621792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>
                <a:solidFill>
                  <a:srgbClr val="3B424A"/>
                </a:solidFill>
                <a:latin typeface="Calibri"/>
              </a:rPr>
              <a:t>•  Greets every browser request that hits roadmap.frazil.app.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3B424A"/>
                </a:solidFill>
                <a:latin typeface="Calibri"/>
              </a:rPr>
              <a:t>•  Automatically gets and renews the HTTPS certificate (free, Let's Encrypt).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3B424A"/>
                </a:solidFill>
                <a:latin typeface="Calibri"/>
              </a:rPr>
              <a:t>•  Routes traffic to the FastAPI app running on the same machine.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3B424A"/>
                </a:solidFill>
                <a:latin typeface="Calibri"/>
              </a:rPr>
              <a:t>•  Entire configuration is three lines (shown below).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4754880"/>
            <a:ext cx="6217920" cy="1325880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4800600"/>
            <a:ext cx="6035040" cy="12344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B424A"/>
                </a:solidFill>
                <a:latin typeface="Consolas"/>
              </a:rPr>
              <a:t>roadmap.frazil.app {</a:t>
            </a:r>
          </a:p>
          <a:p>
            <a:pPr algn="l"/>
            <a:r>
              <a:rPr sz="1100" b="0">
                <a:solidFill>
                  <a:srgbClr val="3B424A"/>
                </a:solidFill>
                <a:latin typeface="Consolas"/>
              </a:rPr>
              <a:t>    reverse_proxy localhost:8000</a:t>
            </a:r>
          </a:p>
          <a:p>
            <a:pPr algn="l"/>
            <a:r>
              <a:rPr sz="1100" b="0">
                <a:solidFill>
                  <a:srgbClr val="3B424A"/>
                </a:solidFill>
                <a:latin typeface="Consolas"/>
              </a:rPr>
              <a:t>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89520" y="1463040"/>
            <a:ext cx="3840480" cy="4754880"/>
          </a:xfrm>
          <a:prstGeom prst="rect">
            <a:avLst/>
          </a:prstGeom>
          <a:solidFill>
            <a:srgbClr val="0F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600200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Why it matters to execs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2103120"/>
            <a:ext cx="3657600" cy="4023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SSL/security is automatic, free, and unmonitored. No expiring certs to track. No vendor renewal bills. Adding a second app on the same server is a 3-line addition to this same file.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7A828C"/>
                </a:solidFill>
                <a:latin typeface="Calibri"/>
              </a:rPr>
              <a:t>Frazil Roadmap  |  Internal — Exec Overview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7A828C"/>
                </a:solidFill>
                <a:latin typeface="Calibri"/>
              </a:rPr>
              <a:t>3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88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2. Gunicorn + Uvicorn — traffic controllers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CFDDEF"/>
                </a:solidFill>
                <a:latin typeface="Calibri"/>
              </a:rPr>
              <a:t>Run the app, restart if it crashes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6583680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6583680" cy="457200"/>
          </a:xfrm>
          <a:prstGeom prst="rect">
            <a:avLst/>
          </a:prstGeom>
          <a:solidFill>
            <a:srgbClr val="1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36192"/>
            <a:ext cx="6400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What it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057400"/>
            <a:ext cx="621792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>
                <a:solidFill>
                  <a:srgbClr val="3B424A"/>
                </a:solidFill>
                <a:latin typeface="Calibri"/>
              </a:rPr>
              <a:t>•  Keep 2 worker processes alive at all times to serve users in parallel.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3B424A"/>
                </a:solidFill>
                <a:latin typeface="Calibri"/>
              </a:rPr>
              <a:t>•  If a worker crashes, it's restarted in seconds.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3B424A"/>
                </a:solidFill>
                <a:latin typeface="Calibri"/>
              </a:rPr>
              <a:t>•  Managed by systemd — the same service manager every Linux server uses.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3B424A"/>
                </a:solidFill>
                <a:latin typeface="Calibri"/>
              </a:rPr>
              <a:t>•  Logs to standard files for troubleshooting.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89520" y="1463040"/>
            <a:ext cx="3840480" cy="4754880"/>
          </a:xfrm>
          <a:prstGeom prst="rect">
            <a:avLst/>
          </a:prstGeom>
          <a:solidFill>
            <a:srgbClr val="0F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1600200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Why it matters to execs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2103120"/>
            <a:ext cx="3657600" cy="4023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The app is self-healing. Routine crashes are absorbed automatically — no on-call rotation needed. Standard Linux service pattern; any sysadmin can troubleshoot.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7A828C"/>
                </a:solidFill>
                <a:latin typeface="Calibri"/>
              </a:rPr>
              <a:t>Frazil Roadmap  |  Internal — Exec Overview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7A828C"/>
                </a:solidFill>
                <a:latin typeface="Calibri"/>
              </a:rPr>
              <a:t>4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88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3. FastAPI — the brain (server.py)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CFDDEF"/>
                </a:solidFill>
                <a:latin typeface="Calibri"/>
              </a:rPr>
              <a:t>Where the actual application logic lives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6583680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6583680" cy="457200"/>
          </a:xfrm>
          <a:prstGeom prst="rect">
            <a:avLst/>
          </a:prstGeom>
          <a:solidFill>
            <a:srgbClr val="0F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36192"/>
            <a:ext cx="6400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What it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057400"/>
            <a:ext cx="621792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>
                <a:solidFill>
                  <a:srgbClr val="3B424A"/>
                </a:solidFill>
                <a:latin typeface="Calibri"/>
              </a:rPr>
              <a:t>•  About 3,100 lines of Python in one file.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3B424A"/>
                </a:solidFill>
                <a:latin typeface="Calibri"/>
              </a:rPr>
              <a:t>•  Handles login, saving projects, syncing with Jira, computing capacity, etc.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3B424A"/>
                </a:solidFill>
                <a:latin typeface="Calibri"/>
              </a:rPr>
              <a:t>•  Written in FastAPI — a modern framework used by Microsoft, Uber, Netflix.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3B424A"/>
                </a:solidFill>
                <a:latin typeface="Calibri"/>
              </a:rPr>
              <a:t>•  Open source, free, and battle-tested.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89520" y="1463040"/>
            <a:ext cx="3840480" cy="4754880"/>
          </a:xfrm>
          <a:prstGeom prst="rect">
            <a:avLst/>
          </a:prstGeom>
          <a:solidFill>
            <a:srgbClr val="0F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1600200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Why it matters to execs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2103120"/>
            <a:ext cx="3657600" cy="4023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Mainstream, popular technology with a deep talent pool. If we ever needed to hand this off — contractor, new hire, or vendor — the framework is recognized industry-wide.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7A828C"/>
                </a:solidFill>
                <a:latin typeface="Calibri"/>
              </a:rPr>
              <a:t>Frazil Roadmap  |  Internal — Exec Overview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7A828C"/>
                </a:solidFill>
                <a:latin typeface="Calibri"/>
              </a:rPr>
              <a:t>5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88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4. SQLite — the filing cabinet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CFDDEF"/>
                </a:solidFill>
                <a:latin typeface="Calibri"/>
              </a:rPr>
              <a:t>All your data, in a single file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6583680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6583680" cy="457200"/>
          </a:xfrm>
          <a:prstGeom prst="rect">
            <a:avLst/>
          </a:prstGeom>
          <a:solidFill>
            <a:srgbClr val="0F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36192"/>
            <a:ext cx="6400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What it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057400"/>
            <a:ext cx="621792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>
                <a:solidFill>
                  <a:srgbClr val="3B424A"/>
                </a:solidFill>
                <a:latin typeface="Calibri"/>
              </a:rPr>
              <a:t>•  Every project, comment, setting, and audit entry — one file on disk.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3B424A"/>
                </a:solidFill>
                <a:latin typeface="Calibri"/>
              </a:rPr>
              <a:t>•  Each team gets its own database file (isolation by design).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3B424A"/>
                </a:solidFill>
                <a:latin typeface="Calibri"/>
              </a:rPr>
              <a:t>•  Backup = copy the file. Restore = paste the file back.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3B424A"/>
                </a:solidFill>
                <a:latin typeface="Calibri"/>
              </a:rPr>
              <a:t>•  Used inside iOS, Android, Firefox, and even on aircraft.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89520" y="1463040"/>
            <a:ext cx="3840480" cy="4754880"/>
          </a:xfrm>
          <a:prstGeom prst="rect">
            <a:avLst/>
          </a:prstGeom>
          <a:solidFill>
            <a:srgbClr val="0F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1600200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Why it matters to execs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2103120"/>
            <a:ext cx="3657600" cy="4023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Backup is automatic via Amazon's daily snapshot service. Even if the entire server burned down, we'd restore the roadmap in under 30 minutes from the latest snapshot.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No separate database server to maintain or pay for.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7A828C"/>
                </a:solidFill>
                <a:latin typeface="Calibri"/>
              </a:rPr>
              <a:t>Frazil Roadmap  |  Internal — Exec Overview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7A828C"/>
                </a:solidFill>
                <a:latin typeface="Calibri"/>
              </a:rPr>
              <a:t>6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88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5. Frontend — roadmap.html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CFDDEF"/>
                </a:solidFill>
                <a:latin typeface="Calibri"/>
              </a:rPr>
              <a:t>The screens you see — one file, no build step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6583680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6583680" cy="457200"/>
          </a:xfrm>
          <a:prstGeom prst="rect">
            <a:avLst/>
          </a:prstGeom>
          <a:solidFill>
            <a:srgbClr val="2AA1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36192"/>
            <a:ext cx="6400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What it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057400"/>
            <a:ext cx="621792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>
                <a:solidFill>
                  <a:srgbClr val="3B424A"/>
                </a:solidFill>
                <a:latin typeface="Calibri"/>
              </a:rPr>
              <a:t>•  About 13,000 lines covering every screen, modal, chart, and dark mode.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3B424A"/>
                </a:solidFill>
                <a:latin typeface="Calibri"/>
              </a:rPr>
              <a:t>•  Loaded once when you open the app, then asks the server for data as you click.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3B424A"/>
                </a:solidFill>
                <a:latin typeface="Calibri"/>
              </a:rPr>
              <a:t>•  No frameworks (React/Vue/etc.) and no build process to maintain.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3B424A"/>
                </a:solidFill>
                <a:latin typeface="Calibri"/>
              </a:rPr>
              <a:t>•  Deploying = copying two files. That's the whole pipeline.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89520" y="1463040"/>
            <a:ext cx="3840480" cy="4754880"/>
          </a:xfrm>
          <a:prstGeom prst="rect">
            <a:avLst/>
          </a:prstGeom>
          <a:solidFill>
            <a:srgbClr val="0F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1600200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Why it matters to execs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2103120"/>
            <a:ext cx="3657600" cy="4023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Low maintenance overhead. No build tools to break, update, or pay for. Anyone with HTML/JavaScript skill can open the file and understand it.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7A828C"/>
                </a:solidFill>
                <a:latin typeface="Calibri"/>
              </a:rPr>
              <a:t>Frazil Roadmap  |  Internal — Exec Overview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7A828C"/>
                </a:solidFill>
                <a:latin typeface="Calibri"/>
              </a:rPr>
              <a:t>7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88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How it connects to Jira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CFDDEF"/>
                </a:solidFill>
                <a:latin typeface="Calibri"/>
              </a:rPr>
              <a:t>On-demand sync, never destructive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691640"/>
            <a:ext cx="102412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F2C4A"/>
                </a:solidFill>
                <a:latin typeface="Calibri"/>
              </a:rPr>
              <a:t>Jira Cloud is the only external system the roadmap talks to.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286000"/>
            <a:ext cx="1024128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3B424A"/>
                </a:solidFill>
                <a:latin typeface="Calibri"/>
              </a:rPr>
              <a:t>•  Click "Sync Jira" → roadmap pulls the latest ticket statuses.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3B424A"/>
                </a:solidFill>
                <a:latin typeface="Calibri"/>
              </a:rPr>
              <a:t>•  Change a roadmap status → roadmap can push that change back to Jira.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3B424A"/>
                </a:solidFill>
                <a:latin typeface="Calibri"/>
              </a:rPr>
              <a:t>•  Deleting a Jira link in the roadmap does NOT delete the Jira ticket.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3B424A"/>
                </a:solidFill>
                <a:latin typeface="Calibri"/>
              </a:rPr>
              <a:t>•  Forward-only safety: Jira changes can only advance a roadmap status, never roll backwards.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" y="4937760"/>
            <a:ext cx="10058400" cy="1005840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5074920"/>
            <a:ext cx="987552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3B424A"/>
                </a:solidFill>
                <a:latin typeface="Calibri"/>
              </a:rPr>
              <a:t>Why the forward-only rule? After a case where reopening a Jira ticket would have wrongly un-completed a roadmap item, we made the sync refuse any backwards move.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7A828C"/>
                </a:solidFill>
                <a:latin typeface="Calibri"/>
              </a:rPr>
              <a:t>Frazil Roadmap  |  Internal — Exec Overview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7A828C"/>
                </a:solidFill>
                <a:latin typeface="Calibri"/>
              </a:rPr>
              <a:t>8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88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Where it all runs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CFDDEF"/>
                </a:solidFill>
                <a:latin typeface="Calibri"/>
              </a:rPr>
              <a:t>AWS — one small instance, ~$15 / month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10698480" cy="502920"/>
          </a:xfrm>
          <a:prstGeom prst="rect">
            <a:avLst/>
          </a:prstGeom>
          <a:solidFill>
            <a:srgbClr val="0F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72768"/>
            <a:ext cx="27432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Item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40" y="1572768"/>
            <a:ext cx="54864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Detail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0" y="1572768"/>
            <a:ext cx="22860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Cost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1965960"/>
            <a:ext cx="1069848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075688"/>
            <a:ext cx="27432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F2C4A"/>
                </a:solidFill>
                <a:latin typeface="Calibri"/>
              </a:rPr>
              <a:t>Cloud provider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0" y="2075688"/>
            <a:ext cx="54864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3B424A"/>
                </a:solidFill>
                <a:latin typeface="Calibri"/>
              </a:rPr>
              <a:t>Amazon Web Services (AWS)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0" y="2075688"/>
            <a:ext cx="22860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3B424A"/>
                </a:solidFill>
                <a:latin typeface="Calibri"/>
              </a:rPr>
              <a:t>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468880"/>
            <a:ext cx="10698480" cy="502920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2578608"/>
            <a:ext cx="27432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F2C4A"/>
                </a:solidFill>
                <a:latin typeface="Calibri"/>
              </a:rPr>
              <a:t>Server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40" y="2578608"/>
            <a:ext cx="54864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3B424A"/>
                </a:solidFill>
                <a:latin typeface="Calibri"/>
              </a:rPr>
              <a:t>t4g.small  (2 CPUs, 2 GB RAM, ARM)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2578608"/>
            <a:ext cx="22860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3B424A"/>
                </a:solidFill>
                <a:latin typeface="Calibri"/>
              </a:rPr>
              <a:t>~$12 / mo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2971800"/>
            <a:ext cx="1069848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081528"/>
            <a:ext cx="27432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F2C4A"/>
                </a:solidFill>
                <a:latin typeface="Calibri"/>
              </a:rPr>
              <a:t>Storage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40" y="3081528"/>
            <a:ext cx="54864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3B424A"/>
                </a:solidFill>
                <a:latin typeface="Calibri"/>
              </a:rPr>
              <a:t>28 GB total  (data on its own disk)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0" y="3081528"/>
            <a:ext cx="22860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3B424A"/>
                </a:solidFill>
                <a:latin typeface="Calibri"/>
              </a:rPr>
              <a:t>~$2 / mo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3474720"/>
            <a:ext cx="10698480" cy="502920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3584448"/>
            <a:ext cx="27432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F2C4A"/>
                </a:solidFill>
                <a:latin typeface="Calibri"/>
              </a:rPr>
              <a:t>Domain SSL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49040" y="3584448"/>
            <a:ext cx="54864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3B424A"/>
                </a:solidFill>
                <a:latin typeface="Calibri"/>
              </a:rPr>
              <a:t>Let's Encrypt  (free, auto-renewing)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0" y="3584448"/>
            <a:ext cx="22860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3B424A"/>
                </a:solidFill>
                <a:latin typeface="Calibri"/>
              </a:rPr>
              <a:t>$0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3977640"/>
            <a:ext cx="1069848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087368"/>
            <a:ext cx="27432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F2C4A"/>
                </a:solidFill>
                <a:latin typeface="Calibri"/>
              </a:rPr>
              <a:t>Backups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49040" y="4087368"/>
            <a:ext cx="54864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3B424A"/>
                </a:solidFill>
                <a:latin typeface="Calibri"/>
              </a:rPr>
              <a:t>Daily AWS snapshots of the data disk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20" y="4087368"/>
            <a:ext cx="22860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3B424A"/>
                </a:solidFill>
                <a:latin typeface="Calibri"/>
              </a:rPr>
              <a:t>~$0.10 / mo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4480560"/>
            <a:ext cx="10698480" cy="594360"/>
          </a:xfrm>
          <a:prstGeom prst="rect">
            <a:avLst/>
          </a:prstGeom>
          <a:solidFill>
            <a:srgbClr val="E88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617720"/>
            <a:ext cx="73152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Total run-rate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18320" y="4617720"/>
            <a:ext cx="22860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~$15 / month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852160"/>
            <a:ext cx="106984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7A828C"/>
                </a:solidFill>
                <a:latin typeface="Calibri"/>
              </a:rPr>
              <a:t>A 1-year reserved instance brings the total to about $10 / month.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7A828C"/>
                </a:solidFill>
                <a:latin typeface="Calibri"/>
              </a:rPr>
              <a:t>Frazil Roadmap  |  Internal — Exec Overview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7A828C"/>
                </a:solidFill>
                <a:latin typeface="Calibri"/>
              </a:rPr>
              <a:t>9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88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Security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CFDDEF"/>
                </a:solidFill>
                <a:latin typeface="Calibri"/>
              </a:rPr>
              <a:t>Login, roles, encryption, audit trail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5486400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F2C4A"/>
                </a:solidFill>
                <a:latin typeface="Calibri"/>
              </a:rPr>
              <a:t>Access control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57400"/>
            <a:ext cx="521208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>
                <a:solidFill>
                  <a:srgbClr val="3B424A"/>
                </a:solidFill>
                <a:latin typeface="Calibri"/>
              </a:rPr>
              <a:t>•  Login required for everyone.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3B424A"/>
                </a:solidFill>
                <a:latin typeface="Calibri"/>
              </a:rPr>
              <a:t>•  Three roles: Viewer, Editor, Admin.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3B424A"/>
                </a:solidFill>
                <a:latin typeface="Calibri"/>
              </a:rPr>
              <a:t>•  Passwords stored as salted hashes — never plain text.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3B424A"/>
                </a:solidFill>
                <a:latin typeface="Calibri"/>
              </a:rPr>
              <a:t>•  Forced password change on first login or reset.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206240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F2C4A"/>
                </a:solidFill>
                <a:latin typeface="Calibri"/>
              </a:rPr>
              <a:t>Data isolation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663440"/>
            <a:ext cx="521208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>
                <a:solidFill>
                  <a:srgbClr val="3B424A"/>
                </a:solidFill>
                <a:latin typeface="Calibri"/>
              </a:rPr>
              <a:t>•  Each team has its own database file.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3B424A"/>
                </a:solidFill>
                <a:latin typeface="Calibri"/>
              </a:rPr>
              <a:t>•  No cross-team data leakage possible by design.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3B424A"/>
                </a:solidFill>
                <a:latin typeface="Calibri"/>
              </a:rPr>
              <a:t>•  Production data on a separate disk from the OS.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92240" y="1463040"/>
            <a:ext cx="4937760" cy="4754880"/>
          </a:xfrm>
          <a:prstGeom prst="rect">
            <a:avLst/>
          </a:prstGeom>
          <a:solidFill>
            <a:srgbClr val="0F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1600200"/>
            <a:ext cx="4663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Encryption &amp; accountability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057400"/>
            <a:ext cx="466344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>
                <a:solidFill>
                  <a:srgbClr val="FFFFFF"/>
                </a:solidFill>
                <a:latin typeface="Calibri"/>
              </a:rPr>
              <a:t>•  All traffic encrypted (HTTPS, auto-renewed).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FFFFFF"/>
                </a:solidFill>
                <a:latin typeface="Calibri"/>
              </a:rPr>
              <a:t>•  Every data-change action is recorded in the audit log.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FFFFFF"/>
                </a:solidFill>
                <a:latin typeface="Calibri"/>
              </a:rPr>
              <a:t>•  Audit log shows who, what, when, and the before/after.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FFFFFF"/>
                </a:solidFill>
                <a:latin typeface="Calibri"/>
              </a:rPr>
              <a:t>•  Custom HMAC-signed tokens (industry pattern).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4572000"/>
            <a:ext cx="4663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Backup &amp; recovery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5029200"/>
            <a:ext cx="46634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>
                <a:solidFill>
                  <a:srgbClr val="FFFFFF"/>
                </a:solidFill>
                <a:latin typeface="Calibri"/>
              </a:rPr>
              <a:t>•  Daily AWS snapshots of the data disk.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FFFFFF"/>
                </a:solidFill>
                <a:latin typeface="Calibri"/>
              </a:rPr>
              <a:t>•  Full restore from snapshot in under 30 minutes.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FFFFFF"/>
                </a:solidFill>
                <a:latin typeface="Calibri"/>
              </a:rPr>
              <a:t>•  On-demand JSON export from the admin UI.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7A828C"/>
                </a:solidFill>
                <a:latin typeface="Calibri"/>
              </a:rPr>
              <a:t>Frazil Roadmap  |  Internal — Exec Overview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7A828C"/>
                </a:solidFill>
                <a:latin typeface="Calibri"/>
              </a:rPr>
              <a:t>10 /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88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What execs typically 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CFDDEF"/>
                </a:solidFill>
                <a:latin typeface="Calibri"/>
              </a:rPr>
              <a:t>Quick answers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1069848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109728" cy="713232"/>
          </a:xfrm>
          <a:prstGeom prst="rect">
            <a:avLst/>
          </a:prstGeom>
          <a:solidFill>
            <a:srgbClr val="1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536192"/>
            <a:ext cx="47548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F2C4A"/>
                </a:solidFill>
                <a:latin typeface="Calibri"/>
              </a:rPr>
              <a:t>What happens if it goes down?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536192"/>
            <a:ext cx="530352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3B424A"/>
                </a:solidFill>
                <a:latin typeface="Calibri"/>
              </a:rPr>
              <a:t>Auto-restarts in seconds. Crashes are logged.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176272"/>
            <a:ext cx="10698480" cy="713232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2176272"/>
            <a:ext cx="109728" cy="713232"/>
          </a:xfrm>
          <a:prstGeom prst="rect">
            <a:avLst/>
          </a:prstGeom>
          <a:solidFill>
            <a:srgbClr val="1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249424"/>
            <a:ext cx="47548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F2C4A"/>
                </a:solidFill>
                <a:latin typeface="Calibri"/>
              </a:rPr>
              <a:t>What if AWS has an outage?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249424"/>
            <a:ext cx="530352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3B424A"/>
                </a:solidFill>
                <a:latin typeface="Calibri"/>
              </a:rPr>
              <a:t>Tool is offline until AWS is back. No data loss — backups are daily.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889504"/>
            <a:ext cx="1069848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2889504"/>
            <a:ext cx="109728" cy="713232"/>
          </a:xfrm>
          <a:prstGeom prst="rect">
            <a:avLst/>
          </a:prstGeom>
          <a:solidFill>
            <a:srgbClr val="1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2962656"/>
            <a:ext cx="47548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F2C4A"/>
                </a:solidFill>
                <a:latin typeface="Calibri"/>
              </a:rPr>
              <a:t>What if the maintainer is unavailable?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2962656"/>
            <a:ext cx="530352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3B424A"/>
                </a:solidFill>
                <a:latin typeface="Calibri"/>
              </a:rPr>
              <a:t>All code in Git. Three reference docs cover everything. Any Python/JS developer can pick it up.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602736"/>
            <a:ext cx="10698480" cy="713232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3602736"/>
            <a:ext cx="109728" cy="713232"/>
          </a:xfrm>
          <a:prstGeom prst="rect">
            <a:avLst/>
          </a:prstGeom>
          <a:solidFill>
            <a:srgbClr val="1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3675888"/>
            <a:ext cx="47548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F2C4A"/>
                </a:solidFill>
                <a:latin typeface="Calibri"/>
              </a:rPr>
              <a:t>Could a vendor build this cheaper?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3675888"/>
            <a:ext cx="530352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3B424A"/>
                </a:solidFill>
                <a:latin typeface="Calibri"/>
              </a:rPr>
              <a:t>SaaS roadmap tools cost $400–$2,000 per month. Custom build pays for itself many times over.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315968"/>
            <a:ext cx="1069848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4315968"/>
            <a:ext cx="109728" cy="713232"/>
          </a:xfrm>
          <a:prstGeom prst="rect">
            <a:avLst/>
          </a:prstGeom>
          <a:solidFill>
            <a:srgbClr val="1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4389120"/>
            <a:ext cx="47548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F2C4A"/>
                </a:solidFill>
                <a:latin typeface="Calibri"/>
              </a:rPr>
              <a:t>What's the lock-in risk?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4389120"/>
            <a:ext cx="530352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3B424A"/>
                </a:solidFill>
                <a:latin typeface="Calibri"/>
              </a:rPr>
              <a:t>None. All standard open-source tech. Full data export to JSON anytime.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5029200"/>
            <a:ext cx="10698480" cy="713232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1520" y="5029200"/>
            <a:ext cx="109728" cy="713232"/>
          </a:xfrm>
          <a:prstGeom prst="rect">
            <a:avLst/>
          </a:prstGeom>
          <a:solidFill>
            <a:srgbClr val="1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5102352"/>
            <a:ext cx="47548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F2C4A"/>
                </a:solidFill>
                <a:latin typeface="Calibri"/>
              </a:rPr>
              <a:t>Cost to scale 10× the users?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0" y="5102352"/>
            <a:ext cx="530352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3B424A"/>
                </a:solidFill>
                <a:latin typeface="Calibri"/>
              </a:rPr>
              <a:t>Same ~$15/mo. Revisit only beyond ~100 simultaneous users.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7A828C"/>
                </a:solidFill>
                <a:latin typeface="Calibri"/>
              </a:rPr>
              <a:t>Frazil Roadmap  |  Internal — Exec Overview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7A828C"/>
                </a:solidFill>
                <a:latin typeface="Calibri"/>
              </a:rPr>
              <a:t>11 / 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035040"/>
            <a:ext cx="12191695" cy="109728"/>
          </a:xfrm>
          <a:prstGeom prst="rect">
            <a:avLst/>
          </a:prstGeom>
          <a:solidFill>
            <a:srgbClr val="E88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>
                <a:solidFill>
                  <a:srgbClr val="9CB6D0"/>
                </a:solidFill>
                <a:latin typeface="Calibri"/>
              </a:rPr>
              <a:t>Takeaway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10698480" cy="3291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Roadmap is a custom-built internal tool — about 16,000 lines of code in two files — that runs on a $15/month cloud server, replaces thousands of dollars per year of SaaS subscriptions, and gives us exactly the features we need with no vendor dependency.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66928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>
                <a:solidFill>
                  <a:srgbClr val="CFDDEF"/>
                </a:solidFill>
                <a:latin typeface="Calibri"/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